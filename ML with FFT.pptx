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Oswald Medium"/>
      <p:regular r:id="rId18"/>
      <p:bold r:id="rId19"/>
    </p:embeddedFont>
    <p:embeddedFont>
      <p:font typeface="Oswald SemiBold"/>
      <p:regular r:id="rId20"/>
      <p:bold r:id="rId21"/>
    </p:embeddedFont>
    <p:embeddedFont>
      <p:font typeface="Fira Sans Extra Condense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73DF95-B529-496E-A679-BFEE3690B1B1}">
  <a:tblStyle styleId="{2A73DF95-B529-496E-A679-BFEE3690B1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SemiBold-regular.fntdata"/><Relationship Id="rId22" Type="http://schemas.openxmlformats.org/officeDocument/2006/relationships/font" Target="fonts/FiraSansExtraCondensed-regular.fntdata"/><Relationship Id="rId21" Type="http://schemas.openxmlformats.org/officeDocument/2006/relationships/font" Target="fonts/OswaldSemiBold-bold.fntdata"/><Relationship Id="rId24" Type="http://schemas.openxmlformats.org/officeDocument/2006/relationships/font" Target="fonts/FiraSansExtraCondensed-italic.fntdata"/><Relationship Id="rId23" Type="http://schemas.openxmlformats.org/officeDocument/2006/relationships/font" Target="fonts/FiraSansExtraCondense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FiraSansExtraCondense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swaldMedium-bold.fntdata"/><Relationship Id="rId18" Type="http://schemas.openxmlformats.org/officeDocument/2006/relationships/font" Target="fonts/Oswald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83ff9493f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83ff9493f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96f17e9b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96f17e9b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96f17e9b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96f17e9b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8b20421ee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8b20421ee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c9a262f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c9a262f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cb3fba5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cb3fba5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9cb3fba5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9cb3fba5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9cb3fba58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9cb3fba58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9cb3fba58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9cb3fba58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83ff9493f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83ff9493f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latin typeface="Oswald SemiBold"/>
                <a:ea typeface="Oswald SemiBold"/>
                <a:cs typeface="Oswald SemiBold"/>
                <a:sym typeface="Oswald SemiBold"/>
              </a:rPr>
              <a:t>ML with FFT</a:t>
            </a:r>
            <a:endParaRPr sz="56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Presented by </a:t>
            </a:r>
            <a:r>
              <a:rPr lang="en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Youssef CHAFIQUI</a:t>
            </a:r>
            <a:endParaRPr sz="19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Approach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28675"/>
            <a:ext cx="8520600" cy="21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idea is to extract features from images using FFT and to use these features for ML prediction.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To evaluate the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effectiveness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of the proposed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approach, I have trained a list of ML models with and without FTT, and then compared the results.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AutoNum type="arabicPeriod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Pass the whole flattened FFT matrix to the ML models (input size = image height * width)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AutoNum type="arabicPeriod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Apply PCA to the FFT matrix with one component (input size = image height) 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Classification: Cats vs. Dogs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348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{2A73DF95-B529-496E-A679-BFEE3690B1B1}</a:tableStyleId>
              </a:tblPr>
              <a:tblGrid>
                <a:gridCol w="1167825"/>
                <a:gridCol w="1167825"/>
                <a:gridCol w="1167825"/>
                <a:gridCol w="1167825"/>
                <a:gridCol w="1167825"/>
                <a:gridCol w="1167825"/>
                <a:gridCol w="1167825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Without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FFT and PCA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0.47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0.47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0.48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Regression: Age prediction from image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326613" y="160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{2A73DF95-B529-496E-A679-BFEE3690B1B1}</a:tableStyleId>
              </a:tblPr>
              <a:tblGrid>
                <a:gridCol w="1133500"/>
                <a:gridCol w="817475"/>
                <a:gridCol w="817475"/>
                <a:gridCol w="817475"/>
                <a:gridCol w="817475"/>
                <a:gridCol w="817475"/>
                <a:gridCol w="817475"/>
                <a:gridCol w="817475"/>
                <a:gridCol w="817475"/>
                <a:gridCol w="817475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Without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FFT and PCA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Regression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22.57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863.72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-0.004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23.59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803.02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24.21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874.27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-0.01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22.89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842.02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857.02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27.13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1153.5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-0.34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17.77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518.41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25.16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988.37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-0.15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839.15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337513" y="160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{2A73DF95-B529-496E-A679-BFEE3690B1B1}</a:tableStyleId>
              </a:tblPr>
              <a:tblGrid>
                <a:gridCol w="1111700"/>
                <a:gridCol w="817475"/>
                <a:gridCol w="817475"/>
                <a:gridCol w="817475"/>
                <a:gridCol w="817475"/>
                <a:gridCol w="817475"/>
                <a:gridCol w="817475"/>
                <a:gridCol w="817475"/>
                <a:gridCol w="817475"/>
                <a:gridCol w="817475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Without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FFT and PCA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Regression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0" l="0" r="52765" t="0"/>
          <a:stretch/>
        </p:blipFill>
        <p:spPr>
          <a:xfrm>
            <a:off x="533350" y="661263"/>
            <a:ext cx="3825549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450" y="666926"/>
            <a:ext cx="3825550" cy="3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b="0" l="1351" r="0" t="0"/>
          <a:stretch/>
        </p:blipFill>
        <p:spPr>
          <a:xfrm>
            <a:off x="566750" y="666950"/>
            <a:ext cx="3763326" cy="3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860" y="666938"/>
            <a:ext cx="3804340" cy="380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0" l="50000" r="0" t="0"/>
          <a:stretch/>
        </p:blipFill>
        <p:spPr>
          <a:xfrm>
            <a:off x="4572006" y="661275"/>
            <a:ext cx="4049548" cy="382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335" y="666925"/>
            <a:ext cx="3804340" cy="380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75" y="664950"/>
            <a:ext cx="8095448" cy="381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522450" y="661275"/>
            <a:ext cx="4049548" cy="382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2"/>
          <p:cNvPicPr preferRelativeResize="0"/>
          <p:nvPr/>
        </p:nvPicPr>
        <p:blipFill rotWithShape="1">
          <a:blip r:embed="rId4">
            <a:alphaModFix/>
          </a:blip>
          <a:srcRect b="0" l="49117" r="0" t="0"/>
          <a:stretch/>
        </p:blipFill>
        <p:spPr>
          <a:xfrm>
            <a:off x="4500574" y="664950"/>
            <a:ext cx="4119150" cy="381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latin typeface="Oswald SemiBold"/>
                <a:ea typeface="Oswald SemiBold"/>
                <a:cs typeface="Oswald SemiBold"/>
                <a:sym typeface="Oswald SemiBold"/>
              </a:rPr>
              <a:t>Thank You</a:t>
            </a:r>
            <a:endParaRPr sz="56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