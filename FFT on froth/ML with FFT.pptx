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Oswald Medium"/>
      <p:regular r:id="rId21"/>
      <p:bold r:id="rId22"/>
    </p:embeddedFont>
    <p:embeddedFont>
      <p:font typeface="Oswald SemiBold"/>
      <p:regular r:id="rId23"/>
      <p:bold r:id="rId24"/>
    </p:embeddedFont>
    <p:embeddedFont>
      <p:font typeface="Fira Sans Extra Condense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E426AD-0C5C-4BFA-BF23-DC23996314AF}">
  <a:tblStyle styleId="{0BE426AD-0C5C-4BFA-BF23-DC23996314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OswaldMedium-bold.fntdata"/><Relationship Id="rId21" Type="http://schemas.openxmlformats.org/officeDocument/2006/relationships/font" Target="fonts/OswaldMedium-regular.fntdata"/><Relationship Id="rId24" Type="http://schemas.openxmlformats.org/officeDocument/2006/relationships/font" Target="fonts/OswaldSemiBold-bold.fntdata"/><Relationship Id="rId23" Type="http://schemas.openxmlformats.org/officeDocument/2006/relationships/font" Target="fonts/Oswald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FiraSansExtraCondensed-bold.fntdata"/><Relationship Id="rId25" Type="http://schemas.openxmlformats.org/officeDocument/2006/relationships/font" Target="fonts/FiraSansExtraCondensed-regular.fntdata"/><Relationship Id="rId28" Type="http://schemas.openxmlformats.org/officeDocument/2006/relationships/font" Target="fonts/FiraSansExtraCondensed-boldItalic.fntdata"/><Relationship Id="rId27" Type="http://schemas.openxmlformats.org/officeDocument/2006/relationships/font" Target="fonts/FiraSansExtraCondense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83ff9493f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83ff9493f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ae0f8ae6f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ae0f8ae6f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96f17e9b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96f17e9b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ae0f8ae6f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ae0f8ae6f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bbe72c11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bbe72c11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ae0f8ae6f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ae0f8ae6f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ae0f8ae6f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ae0f8ae6f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aedd75c62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aedd75c62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b5146dee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b5146dee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bbe72c114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bbe72c114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bbf6c9460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bbf6c946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c0a5f117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c0a5f117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83ff9493f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83ff9493f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latin typeface="Oswald SemiBold"/>
                <a:ea typeface="Oswald SemiBold"/>
                <a:cs typeface="Oswald SemiBold"/>
                <a:sym typeface="Oswald SemiBold"/>
              </a:rPr>
              <a:t>ML with FFT</a:t>
            </a:r>
            <a:endParaRPr sz="56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Presented by </a:t>
            </a:r>
            <a:r>
              <a:rPr lang="en" sz="1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Youssef CHAFIQUI</a:t>
            </a:r>
            <a:endParaRPr sz="19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FFT and PCA Approach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28675"/>
            <a:ext cx="8520600" cy="21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idea is to extract features from images using FFT and to use these features for ML prediction.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To evaluate the 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effectiveness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of the proposed 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approach, I have trained a list of ML models with and without FTT, and then compared the results.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AutoNum type="arabicPeriod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Pass the whole flattened FFT matrix to the ML models (input size = image height * width)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just"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AutoNum type="arabicPeriod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Apply PCA to the FFT matrix with one component (input size = image height) 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FFT and PCA </a:t>
            </a: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Approach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52765" t="0"/>
          <a:stretch/>
        </p:blipFill>
        <p:spPr>
          <a:xfrm>
            <a:off x="430625" y="1427670"/>
            <a:ext cx="2290927" cy="22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7870" y="1431074"/>
            <a:ext cx="2290931" cy="2281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5">
            <a:alphaModFix/>
          </a:blip>
          <a:srcRect b="0" l="41383" r="5541" t="9255"/>
          <a:stretch/>
        </p:blipFill>
        <p:spPr>
          <a:xfrm>
            <a:off x="7972375" y="2013563"/>
            <a:ext cx="741000" cy="1116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5"/>
          <p:cNvCxnSpPr>
            <a:stCxn id="67" idx="3"/>
            <a:endCxn id="68" idx="1"/>
          </p:cNvCxnSpPr>
          <p:nvPr/>
        </p:nvCxnSpPr>
        <p:spPr>
          <a:xfrm>
            <a:off x="2721552" y="2571758"/>
            <a:ext cx="1216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5"/>
          <p:cNvCxnSpPr>
            <a:endCxn id="69" idx="1"/>
          </p:cNvCxnSpPr>
          <p:nvPr/>
        </p:nvCxnSpPr>
        <p:spPr>
          <a:xfrm>
            <a:off x="6265975" y="2571750"/>
            <a:ext cx="1706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5"/>
          <p:cNvSpPr txBox="1"/>
          <p:nvPr/>
        </p:nvSpPr>
        <p:spPr>
          <a:xfrm>
            <a:off x="2839288" y="2746125"/>
            <a:ext cx="82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FFT</a:t>
            </a:r>
            <a:endParaRPr b="1" sz="1700"/>
          </a:p>
        </p:txBody>
      </p:sp>
      <p:sp>
        <p:nvSpPr>
          <p:cNvPr id="73" name="Google Shape;73;p15"/>
          <p:cNvSpPr txBox="1"/>
          <p:nvPr/>
        </p:nvSpPr>
        <p:spPr>
          <a:xfrm>
            <a:off x="6645188" y="2746125"/>
            <a:ext cx="91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PCA</a:t>
            </a:r>
            <a:endParaRPr b="1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Classification: Cats vs. Dogs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434850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{0BE426AD-0C5C-4BFA-BF23-DC23996314AF}</a:tableStyleId>
              </a:tblPr>
              <a:tblGrid>
                <a:gridCol w="1167825"/>
                <a:gridCol w="1167825"/>
                <a:gridCol w="1167825"/>
                <a:gridCol w="1167825"/>
                <a:gridCol w="1167825"/>
                <a:gridCol w="1167825"/>
                <a:gridCol w="1167825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Without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FFT and PCA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 score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 score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 Score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7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Froth flotation Relavage Pb 4 only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8675"/>
            <a:ext cx="8520600" cy="28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10 videos (638 images) for training. 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Approx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. 60 images per video.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Char char="○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Images of the same video have the same labels.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Char char="○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solution was to introduce some noise to the labels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Char char="○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 </a:t>
            </a:r>
            <a:r>
              <a:rPr lang="en" sz="1500">
                <a:solidFill>
                  <a:srgbClr val="292929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random 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offset (0 &lt; offset &lt; r) was added to the labels of images of the same video.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Char char="○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 = 1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92929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2 videos for testing (Average prediction of all images of the video compared with real labels).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25" y="228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Froth flotation: models trained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aphicFrame>
        <p:nvGraphicFramePr>
          <p:cNvPr id="91" name="Google Shape;91;p18"/>
          <p:cNvGraphicFramePr/>
          <p:nvPr/>
        </p:nvGraphicFramePr>
        <p:xfrm>
          <a:off x="-12" y="99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{0BE426AD-0C5C-4BFA-BF23-DC23996314AF}</a:tableStyleId>
              </a:tblPr>
              <a:tblGrid>
                <a:gridCol w="1048850"/>
                <a:gridCol w="581375"/>
                <a:gridCol w="683075"/>
                <a:gridCol w="683075"/>
                <a:gridCol w="683075"/>
                <a:gridCol w="683075"/>
                <a:gridCol w="683075"/>
                <a:gridCol w="683075"/>
                <a:gridCol w="683075"/>
                <a:gridCol w="683075"/>
                <a:gridCol w="683075"/>
                <a:gridCol w="683075"/>
                <a:gridCol w="683075"/>
              </a:tblGrid>
              <a:tr h="3904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Without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 FFT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FFT and PCA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</a:tr>
              <a:tr h="6006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(s)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(s)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(s)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81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Linear Regression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3.06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20.05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-3.73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113.35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2.34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9.71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-1.48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110.18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3.008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19.95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-2.94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0.38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6AA84F"/>
                    </a:solidFill>
                  </a:tcPr>
                </a:tc>
              </a:tr>
              <a:tr h="54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SVM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2.58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10.72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-2.10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186.75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2.29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7.90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-2.22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179.78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2.46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9.87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-2.24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9.41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6AA84F"/>
                    </a:solidFill>
                  </a:tcPr>
                </a:tc>
              </a:tr>
              <a:tr h="60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XGBoost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&gt; 1h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2.84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15.56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-2.16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2079.5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92929"/>
                          </a:solidFill>
                        </a:rPr>
                        <a:t>2.98</a:t>
                      </a:r>
                      <a:endParaRPr>
                        <a:solidFill>
                          <a:srgbClr val="29292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92929"/>
                          </a:solidFill>
                        </a:rPr>
                        <a:t>16.58</a:t>
                      </a:r>
                      <a:endParaRPr>
                        <a:solidFill>
                          <a:srgbClr val="29292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92929"/>
                          </a:solidFill>
                        </a:rPr>
                        <a:t>-2.43</a:t>
                      </a:r>
                      <a:endParaRPr>
                        <a:solidFill>
                          <a:srgbClr val="29292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0.60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6AA84F"/>
                    </a:solidFill>
                  </a:tcPr>
                </a:tc>
              </a:tr>
              <a:tr h="60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Random Forest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&gt; 1h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&gt; 1h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92929"/>
                          </a:solidFill>
                        </a:rPr>
                        <a:t>2.76</a:t>
                      </a:r>
                      <a:endParaRPr>
                        <a:solidFill>
                          <a:srgbClr val="29292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92929"/>
                          </a:solidFill>
                        </a:rPr>
                        <a:t>12.47</a:t>
                      </a:r>
                      <a:endParaRPr>
                        <a:solidFill>
                          <a:srgbClr val="29292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92929"/>
                          </a:solidFill>
                        </a:rPr>
                        <a:t>-1.73</a:t>
                      </a:r>
                      <a:endParaRPr>
                        <a:solidFill>
                          <a:srgbClr val="29292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314.10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6AA84F"/>
                    </a:solidFill>
                  </a:tcPr>
                </a:tc>
              </a:tr>
              <a:tr h="60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Catboost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&gt; 1h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&gt; 1h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92929"/>
                          </a:solidFill>
                        </a:rPr>
                        <a:t>2.69</a:t>
                      </a:r>
                      <a:endParaRPr>
                        <a:solidFill>
                          <a:srgbClr val="29292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92929"/>
                          </a:solidFill>
                        </a:rPr>
                        <a:t>11.40</a:t>
                      </a:r>
                      <a:endParaRPr>
                        <a:solidFill>
                          <a:srgbClr val="29292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92929"/>
                          </a:solidFill>
                        </a:rPr>
                        <a:t>-1.53</a:t>
                      </a:r>
                      <a:endParaRPr>
                        <a:solidFill>
                          <a:srgbClr val="29292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Froth flotation models trained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aphicFrame>
        <p:nvGraphicFramePr>
          <p:cNvPr id="97" name="Google Shape;97;p19"/>
          <p:cNvGraphicFramePr/>
          <p:nvPr/>
        </p:nvGraphicFramePr>
        <p:xfrm>
          <a:off x="326613" y="122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{0BE426AD-0C5C-4BFA-BF23-DC23996314AF}</a:tableStyleId>
              </a:tblPr>
              <a:tblGrid>
                <a:gridCol w="2133475"/>
                <a:gridCol w="1538650"/>
                <a:gridCol w="1538650"/>
                <a:gridCol w="1538650"/>
                <a:gridCol w="1538650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FFT and PCA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Train Time (s)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 Regression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3.008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19.95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-2.94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0.38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2.46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9.87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-2.24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9.41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2.98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16.58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-2.43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0.60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Catboost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314.10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11.40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-1.53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SVM results on test video #1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782" y="712925"/>
            <a:ext cx="5874430" cy="443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SVM results on test video #2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782" y="712925"/>
            <a:ext cx="5874430" cy="443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Froth flotation models evaluation (Average of two test videos)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aphicFrame>
        <p:nvGraphicFramePr>
          <p:cNvPr id="115" name="Google Shape;115;p22"/>
          <p:cNvGraphicFramePr/>
          <p:nvPr/>
        </p:nvGraphicFramePr>
        <p:xfrm>
          <a:off x="326613" y="122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{0BE426AD-0C5C-4BFA-BF23-DC23996314AF}</a:tableStyleId>
              </a:tblPr>
              <a:tblGrid>
                <a:gridCol w="2133475"/>
                <a:gridCol w="1538650"/>
                <a:gridCol w="1538650"/>
                <a:gridCol w="1538650"/>
                <a:gridCol w="1538650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Average Prediction % - Actual %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Pb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2.82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3.39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2.12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Random Forest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2.975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4.555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2.02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3.16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4.065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2.05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Catboost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3.01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4.595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1.995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Froth flotation: Relavage Pb 1, 3 and 4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aphicFrame>
        <p:nvGraphicFramePr>
          <p:cNvPr id="121" name="Google Shape;121;p23"/>
          <p:cNvGraphicFramePr/>
          <p:nvPr/>
        </p:nvGraphicFramePr>
        <p:xfrm>
          <a:off x="427950" y="181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{0BE426AD-0C5C-4BFA-BF23-DC23996314AF}</a:tableStyleId>
              </a:tblPr>
              <a:tblGrid>
                <a:gridCol w="2133475"/>
                <a:gridCol w="1538650"/>
                <a:gridCol w="1538650"/>
                <a:gridCol w="1538650"/>
                <a:gridCol w="1538650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Average Prediction % - Actual % (average of 5 test videos) 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Pb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4.15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13.49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1.36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Random Forest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3.39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10.04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3.39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8.94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Catboost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3.18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9.51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847675"/>
            <a:ext cx="8520600" cy="9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24 videos (1559 images) for training.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5 videos for testing (Average prediction of all images of the video compared with real labels).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Froth flotation: Relavage Pb 1, 3 and 4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847675"/>
            <a:ext cx="8520600" cy="9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292929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A random offset (0 &lt; offset &lt; r) was added to the labels of images of the same video.</a:t>
            </a:r>
            <a:endParaRPr sz="1500">
              <a:solidFill>
                <a:srgbClr val="292929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292929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Cu: r = 1.8 | Fe: r = 1.6 | Pb: r = 0.5 | Zn: r = 1.6</a:t>
            </a:r>
            <a:endParaRPr sz="15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29" name="Google Shape;129;p24"/>
          <p:cNvGraphicFramePr/>
          <p:nvPr/>
        </p:nvGraphicFramePr>
        <p:xfrm>
          <a:off x="427950" y="181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{0BE426AD-0C5C-4BFA-BF23-DC23996314AF}</a:tableStyleId>
              </a:tblPr>
              <a:tblGrid>
                <a:gridCol w="1555825"/>
                <a:gridCol w="1122050"/>
                <a:gridCol w="1122050"/>
                <a:gridCol w="1122050"/>
                <a:gridCol w="1122050"/>
                <a:gridCol w="1122050"/>
                <a:gridCol w="1122050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Average Prediction % - Actual % (average of 5 test videos) 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 anchor="ctr"/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Pb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Zn</a:t>
                      </a:r>
                      <a:endParaRPr/>
                    </a:p>
                  </a:txBody>
                  <a:tcPr marT="91425" marB="91425" marR="91425" marL="91425" anchor="ctr"/>
                </a:tc>
                <a:tc vMerge="1"/>
                <a:tc vMerge="1"/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4.08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13.45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Random Forest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9.98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3.26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9.39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1.30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  <a:tr h="54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Catboost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9.69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Froth flotation: Relavage Pb 1, 3 and 4 (2 components for PCA)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aphicFrame>
        <p:nvGraphicFramePr>
          <p:cNvPr id="135" name="Google Shape;135;p25"/>
          <p:cNvGraphicFramePr/>
          <p:nvPr/>
        </p:nvGraphicFramePr>
        <p:xfrm>
          <a:off x="427950" y="636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{0BE426AD-0C5C-4BFA-BF23-DC23996314AF}</a:tableStyleId>
              </a:tblPr>
              <a:tblGrid>
                <a:gridCol w="2096375"/>
                <a:gridCol w="1511900"/>
                <a:gridCol w="1511900"/>
                <a:gridCol w="1511900"/>
                <a:gridCol w="1511900"/>
              </a:tblGrid>
              <a:tr h="5723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Average Prediction % - Actual % (average of 5 test videos) 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</a:tr>
              <a:tr h="3873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Pb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7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SVM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0.788315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3.883035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12.880749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1.177205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  <a:tr h="387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Random Forest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0.693605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3.137268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8.380914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1.250317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  <a:tr h="387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XGBoost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0.727500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2.947093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7.633041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1.209546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  <a:tr h="387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CatBoost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0.726113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2.882670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8.050951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1.190892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  <a:tr h="387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Gradient Boosting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0.692462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2.988582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8.174781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1.163140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  <a:tr h="387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AdaBoost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0.806758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3.763127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9.397196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1.295960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  <a:tr h="387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Decision Tree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0.793053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3.438324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10.125517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1.152084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  <a:tr h="387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KNN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0.812097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3.082230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6.638384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1.202826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  <a:tr h="387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Neural Network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0.824419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2.669737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9.046821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1.520403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latin typeface="Oswald SemiBold"/>
                <a:ea typeface="Oswald SemiBold"/>
                <a:cs typeface="Oswald SemiBold"/>
                <a:sym typeface="Oswald SemiBold"/>
              </a:rPr>
              <a:t>Thank You</a:t>
            </a:r>
            <a:endParaRPr sz="56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