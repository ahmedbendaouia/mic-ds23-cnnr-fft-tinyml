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5143500" cx="9144000"/>
  <p:notesSz cx="6858000" cy="9144000"/>
  <p:embeddedFontLst>
    <p:embeddedFont>
      <p:font typeface="Oswald Medium"/>
      <p:regular r:id="rId21"/>
      <p:bold r:id="rId22"/>
    </p:embeddedFont>
    <p:embeddedFont>
      <p:font typeface="Oswald SemiBold"/>
      <p:regular r:id="rId23"/>
      <p:bold r:id="rId24"/>
    </p:embeddedFont>
    <p:embeddedFont>
      <p:font typeface="Fira Sans Extra Condensed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76F81A4-E986-4E40-B94E-8DC1D8FA0AB2}">
  <a:tblStyle styleId="{C76F81A4-E986-4E40-B94E-8DC1D8FA0AB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OswaldMedium-bold.fntdata"/><Relationship Id="rId21" Type="http://schemas.openxmlformats.org/officeDocument/2006/relationships/font" Target="fonts/OswaldMedium-regular.fntdata"/><Relationship Id="rId24" Type="http://schemas.openxmlformats.org/officeDocument/2006/relationships/font" Target="fonts/OswaldSemiBold-bold.fntdata"/><Relationship Id="rId23" Type="http://schemas.openxmlformats.org/officeDocument/2006/relationships/font" Target="fonts/OswaldSemiBold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FiraSansExtraCondensed-bold.fntdata"/><Relationship Id="rId25" Type="http://schemas.openxmlformats.org/officeDocument/2006/relationships/font" Target="fonts/FiraSansExtraCondensed-regular.fntdata"/><Relationship Id="rId28" Type="http://schemas.openxmlformats.org/officeDocument/2006/relationships/font" Target="fonts/FiraSansExtraCondensed-boldItalic.fntdata"/><Relationship Id="rId27" Type="http://schemas.openxmlformats.org/officeDocument/2006/relationships/font" Target="fonts/FiraSansExtraCondensed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183ff9493fd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183ff9493fd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ae0f8ae6f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ae0f8ae6f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196f17e9bf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196f17e9bf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196f17e9bf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196f17e9bf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1ae0f8ae6f5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1ae0f8ae6f5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1bbe72c114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1bbe72c114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1ae0f8ae6f5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1ae0f8ae6f5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1ae0f8ae6f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1ae0f8ae6f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1aedd75c621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1aedd75c621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b5146dee0f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1b5146dee0f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1bbe72c1144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1bbe72c1144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1bbf6c9460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1bbf6c9460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183ff9493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183ff9493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0">
                <a:latin typeface="Oswald SemiBold"/>
                <a:ea typeface="Oswald SemiBold"/>
                <a:cs typeface="Oswald SemiBold"/>
                <a:sym typeface="Oswald SemiBold"/>
              </a:rPr>
              <a:t>ML with FFT</a:t>
            </a:r>
            <a:endParaRPr sz="5600">
              <a:latin typeface="Oswald SemiBold"/>
              <a:ea typeface="Oswald SemiBold"/>
              <a:cs typeface="Oswald SemiBold"/>
              <a:sym typeface="Oswald SemiBold"/>
            </a:endParaRP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Presented by </a:t>
            </a:r>
            <a:r>
              <a:rPr lang="en" sz="19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Youssef CHAFIQUI</a:t>
            </a:r>
            <a:endParaRPr sz="1900"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FFT and PCA Approach</a:t>
            </a:r>
            <a:endParaRPr>
              <a:latin typeface="Oswald Medium"/>
              <a:ea typeface="Oswald Medium"/>
              <a:cs typeface="Oswald Medium"/>
              <a:sym typeface="Oswald Medium"/>
            </a:endParaRP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228675"/>
            <a:ext cx="8520600" cy="21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The idea is to extract features from images using FFT and to use these features for ML prediction.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To evaluate the </a:t>
            </a: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effectiveness</a:t>
            </a: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 of the proposed </a:t>
            </a: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approach, I have trained a list of ML models with and without FTT, and then compared the results.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-323850" lvl="0" marL="457200" rtl="0" algn="just">
              <a:spcBef>
                <a:spcPts val="1200"/>
              </a:spcBef>
              <a:spcAft>
                <a:spcPts val="0"/>
              </a:spcAft>
              <a:buClr>
                <a:srgbClr val="292929"/>
              </a:buClr>
              <a:buSzPts val="1500"/>
              <a:buFont typeface="Georgia"/>
              <a:buAutoNum type="arabicPeriod"/>
            </a:pP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Pass the whole flattened FFT matrix to the ML models (input size = image height * width)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-323850" lvl="0" marL="457200" rtl="0" algn="just">
              <a:spcBef>
                <a:spcPts val="1000"/>
              </a:spcBef>
              <a:spcAft>
                <a:spcPts val="0"/>
              </a:spcAft>
              <a:buClr>
                <a:srgbClr val="292929"/>
              </a:buClr>
              <a:buSzPts val="1500"/>
              <a:buFont typeface="Georgia"/>
              <a:buAutoNum type="arabicPeriod"/>
            </a:pP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Apply PCA to the FFT matrix with one component (input size = image height) 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FFT and PCA </a:t>
            </a: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Approach</a:t>
            </a:r>
            <a:endParaRPr>
              <a:latin typeface="Oswald Medium"/>
              <a:ea typeface="Oswald Medium"/>
              <a:cs typeface="Oswald Medium"/>
              <a:sym typeface="Oswald Medium"/>
            </a:endParaRPr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52765" t="0"/>
          <a:stretch/>
        </p:blipFill>
        <p:spPr>
          <a:xfrm>
            <a:off x="430625" y="1427670"/>
            <a:ext cx="2290927" cy="228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37870" y="1431074"/>
            <a:ext cx="2290931" cy="2281379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/>
          <p:cNvPicPr preferRelativeResize="0"/>
          <p:nvPr/>
        </p:nvPicPr>
        <p:blipFill rotWithShape="1">
          <a:blip r:embed="rId5">
            <a:alphaModFix/>
          </a:blip>
          <a:srcRect b="0" l="41383" r="5541" t="9255"/>
          <a:stretch/>
        </p:blipFill>
        <p:spPr>
          <a:xfrm>
            <a:off x="7972375" y="2013563"/>
            <a:ext cx="741000" cy="11163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" name="Google Shape;70;p15"/>
          <p:cNvCxnSpPr>
            <a:stCxn id="67" idx="3"/>
            <a:endCxn id="68" idx="1"/>
          </p:cNvCxnSpPr>
          <p:nvPr/>
        </p:nvCxnSpPr>
        <p:spPr>
          <a:xfrm>
            <a:off x="2721552" y="2571758"/>
            <a:ext cx="1216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1" name="Google Shape;71;p15"/>
          <p:cNvCxnSpPr>
            <a:endCxn id="69" idx="1"/>
          </p:cNvCxnSpPr>
          <p:nvPr/>
        </p:nvCxnSpPr>
        <p:spPr>
          <a:xfrm>
            <a:off x="6265975" y="2571750"/>
            <a:ext cx="17064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2" name="Google Shape;72;p15"/>
          <p:cNvSpPr txBox="1"/>
          <p:nvPr/>
        </p:nvSpPr>
        <p:spPr>
          <a:xfrm>
            <a:off x="2839288" y="2746125"/>
            <a:ext cx="8283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/>
              <a:t>FFT</a:t>
            </a:r>
            <a:endParaRPr b="1" sz="1700"/>
          </a:p>
        </p:txBody>
      </p:sp>
      <p:sp>
        <p:nvSpPr>
          <p:cNvPr id="73" name="Google Shape;73;p15"/>
          <p:cNvSpPr txBox="1"/>
          <p:nvPr/>
        </p:nvSpPr>
        <p:spPr>
          <a:xfrm>
            <a:off x="6645188" y="2746125"/>
            <a:ext cx="910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/>
              <a:t>PCA</a:t>
            </a:r>
            <a:endParaRPr b="1" sz="17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Classification: Cats vs. Dogs</a:t>
            </a:r>
            <a:endParaRPr>
              <a:latin typeface="Oswald Medium"/>
              <a:ea typeface="Oswald Medium"/>
              <a:cs typeface="Oswald Medium"/>
              <a:sym typeface="Oswald Medium"/>
            </a:endParaRPr>
          </a:p>
        </p:txBody>
      </p:sp>
      <p:graphicFrame>
        <p:nvGraphicFramePr>
          <p:cNvPr id="79" name="Google Shape;79;p16"/>
          <p:cNvGraphicFramePr/>
          <p:nvPr/>
        </p:nvGraphicFramePr>
        <p:xfrm>
          <a:off x="434850" y="1390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{C76F81A4-E986-4E40-B94E-8DC1D8FA0AB2}</a:tableStyleId>
              </a:tblPr>
              <a:tblGrid>
                <a:gridCol w="1167825"/>
                <a:gridCol w="1167825"/>
                <a:gridCol w="1167825"/>
                <a:gridCol w="1167825"/>
                <a:gridCol w="1167825"/>
                <a:gridCol w="1167825"/>
                <a:gridCol w="1167825"/>
              </a:tblGrid>
              <a:tr h="396200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/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Without FFT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With FFT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FFT and PCA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</a:tr>
              <a:tr h="3962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Accuracy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F1 score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Accuracy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F1 score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Accuracy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F1 Score</a:t>
                      </a:r>
                      <a:endParaRPr/>
                    </a:p>
                  </a:txBody>
                  <a:tcPr marT="91425" marB="91425" marR="91425" marL="91425" anchor="ctr"/>
                </a:tc>
              </a:tr>
              <a:tr h="4742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Logistic Regression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0.38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0.39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0.63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0.65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0.61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0.63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SVM</a:t>
                      </a:r>
                      <a:endParaRPr/>
                    </a:p>
                  </a:txBody>
                  <a:tcPr marT="91425" marB="91425" marR="91425" marL="91425" anchor="ctr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0.57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0.59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0.66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0.70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0.58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0.61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Random Forest</a:t>
                      </a:r>
                      <a:endParaRPr/>
                    </a:p>
                  </a:txBody>
                  <a:tcPr marT="91425" marB="91425" marR="91425" marL="91425" anchor="ctr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0.5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0.47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0.65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0.68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0.58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0.62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XGBoost</a:t>
                      </a:r>
                      <a:endParaRPr/>
                    </a:p>
                  </a:txBody>
                  <a:tcPr marT="91425" marB="91425" marR="91425" marL="91425" anchor="ctr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0.47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0.48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0.67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0.71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0.63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0.64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Regression: Age prediction from image</a:t>
            </a:r>
            <a:endParaRPr>
              <a:latin typeface="Oswald Medium"/>
              <a:ea typeface="Oswald Medium"/>
              <a:cs typeface="Oswald Medium"/>
              <a:sym typeface="Oswald Medium"/>
            </a:endParaRPr>
          </a:p>
        </p:txBody>
      </p:sp>
      <p:graphicFrame>
        <p:nvGraphicFramePr>
          <p:cNvPr id="85" name="Google Shape;85;p17"/>
          <p:cNvGraphicFramePr/>
          <p:nvPr/>
        </p:nvGraphicFramePr>
        <p:xfrm>
          <a:off x="326613" y="16083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{C76F81A4-E986-4E40-B94E-8DC1D8FA0AB2}</a:tableStyleId>
              </a:tblPr>
              <a:tblGrid>
                <a:gridCol w="1133500"/>
                <a:gridCol w="817475"/>
                <a:gridCol w="817475"/>
                <a:gridCol w="817475"/>
                <a:gridCol w="817475"/>
                <a:gridCol w="817475"/>
                <a:gridCol w="817475"/>
                <a:gridCol w="817475"/>
                <a:gridCol w="817475"/>
                <a:gridCol w="817475"/>
              </a:tblGrid>
              <a:tr h="396200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/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Without FFT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  <a:tc hMerge="1"/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With FFT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  <a:tc hMerge="1"/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FFT and PCA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  <a:tc hMerge="1"/>
              </a:tr>
              <a:tr h="3962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MSE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R2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MSE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R2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MSE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R2</a:t>
                      </a:r>
                      <a:endParaRPr/>
                    </a:p>
                  </a:txBody>
                  <a:tcPr marT="91425" marB="91425" marR="91425" marL="91425" anchor="ctr"/>
                </a:tc>
              </a:tr>
              <a:tr h="496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Linear Regression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22.57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863.72</a:t>
                      </a:r>
                      <a:endParaRPr/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-0.004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23.59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803.02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0.06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24.21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874.27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-0.01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SVM</a:t>
                      </a:r>
                      <a:endParaRPr/>
                    </a:p>
                  </a:txBody>
                  <a:tcPr marT="91425" marB="91425" marR="91425" marL="91425" anchor="ctr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22.89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842.02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0.02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23.52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857.02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0.0028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27.13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1153.5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-0.34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XGBoost</a:t>
                      </a:r>
                      <a:endParaRPr/>
                    </a:p>
                  </a:txBody>
                  <a:tcPr marT="91425" marB="91425" marR="91425" marL="91425" anchor="ctr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17.77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518.41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0.39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25.16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988.37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-0.15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23.75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839.15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0.02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Froth flotation Relavage Pb 4 only</a:t>
            </a:r>
            <a:endParaRPr>
              <a:latin typeface="Oswald Medium"/>
              <a:ea typeface="Oswald Medium"/>
              <a:cs typeface="Oswald Medium"/>
              <a:sym typeface="Oswald Medium"/>
            </a:endParaRPr>
          </a:p>
        </p:txBody>
      </p:sp>
      <p:sp>
        <p:nvSpPr>
          <p:cNvPr id="91" name="Google Shape;91;p18"/>
          <p:cNvSpPr txBox="1"/>
          <p:nvPr>
            <p:ph idx="1" type="body"/>
          </p:nvPr>
        </p:nvSpPr>
        <p:spPr>
          <a:xfrm>
            <a:off x="311700" y="1228675"/>
            <a:ext cx="8520600" cy="283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1500"/>
              <a:buFont typeface="Georgia"/>
              <a:buChar char="●"/>
            </a:pP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10 videos (638 images) for training. </a:t>
            </a: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Approx</a:t>
            </a: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. 60 images per video.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-323850" lvl="1" marL="914400" rtl="0" algn="just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292929"/>
              </a:buClr>
              <a:buSzPts val="1500"/>
              <a:buFont typeface="Georgia"/>
              <a:buChar char="○"/>
            </a:pP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Images of the same video have the same labels.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-323850" lvl="1" marL="914400" rtl="0" algn="just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292929"/>
              </a:buClr>
              <a:buSzPts val="1500"/>
              <a:buFont typeface="Georgia"/>
              <a:buChar char="○"/>
            </a:pP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The solution was to introduce some noise to the labels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-323850" lvl="1" marL="914400" rtl="0" algn="just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292929"/>
              </a:buClr>
              <a:buSzPts val="1500"/>
              <a:buFont typeface="Georgia"/>
              <a:buChar char="○"/>
            </a:pP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A </a:t>
            </a:r>
            <a:r>
              <a:rPr lang="en" sz="1500">
                <a:solidFill>
                  <a:srgbClr val="292929"/>
                </a:solidFill>
                <a:highlight>
                  <a:schemeClr val="lt1"/>
                </a:highlight>
                <a:latin typeface="Georgia"/>
                <a:ea typeface="Georgia"/>
                <a:cs typeface="Georgia"/>
                <a:sym typeface="Georgia"/>
              </a:rPr>
              <a:t>random </a:t>
            </a: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offset (0 &lt; offset &lt; r) was added to the labels of images of the same video.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-323850" lvl="1" marL="914400" rtl="0" algn="just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292929"/>
              </a:buClr>
              <a:buSzPts val="1500"/>
              <a:buFont typeface="Georgia"/>
              <a:buChar char="○"/>
            </a:pP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r = 1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-323850" lvl="0" marL="457200" rtl="0" algn="just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rgbClr val="292929"/>
              </a:buClr>
              <a:buSzPts val="1500"/>
              <a:buFont typeface="Georgia"/>
              <a:buChar char="●"/>
            </a:pP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2 videos for testing (Average prediction of all images of the video compared with real labels).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>
            <p:ph type="title"/>
          </p:nvPr>
        </p:nvSpPr>
        <p:spPr>
          <a:xfrm>
            <a:off x="311725" y="2284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Froth flotation: models trained</a:t>
            </a:r>
            <a:endParaRPr>
              <a:latin typeface="Oswald Medium"/>
              <a:ea typeface="Oswald Medium"/>
              <a:cs typeface="Oswald Medium"/>
              <a:sym typeface="Oswald Medium"/>
            </a:endParaRPr>
          </a:p>
        </p:txBody>
      </p:sp>
      <p:graphicFrame>
        <p:nvGraphicFramePr>
          <p:cNvPr id="97" name="Google Shape;97;p19"/>
          <p:cNvGraphicFramePr/>
          <p:nvPr/>
        </p:nvGraphicFramePr>
        <p:xfrm>
          <a:off x="-12" y="998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{C76F81A4-E986-4E40-B94E-8DC1D8FA0AB2}</a:tableStyleId>
              </a:tblPr>
              <a:tblGrid>
                <a:gridCol w="1048850"/>
                <a:gridCol w="581375"/>
                <a:gridCol w="683075"/>
                <a:gridCol w="683075"/>
                <a:gridCol w="683075"/>
                <a:gridCol w="683075"/>
                <a:gridCol w="683075"/>
                <a:gridCol w="683075"/>
                <a:gridCol w="683075"/>
                <a:gridCol w="683075"/>
                <a:gridCol w="683075"/>
                <a:gridCol w="683075"/>
                <a:gridCol w="683075"/>
              </a:tblGrid>
              <a:tr h="390425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/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Without FFT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With FFT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FFT and PCA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  <a:tc hMerge="1"/>
                <a:tc hMerge="1"/>
              </a:tr>
              <a:tr h="6006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MSE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R2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Time (s)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MSE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R2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Time (s)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MSE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R2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Time (s)</a:t>
                      </a:r>
                      <a:endParaRPr/>
                    </a:p>
                  </a:txBody>
                  <a:tcPr marT="91425" marB="91425" marR="91425" marL="91425" anchor="ctr"/>
                </a:tc>
              </a:tr>
              <a:tr h="810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Linear Regression</a:t>
                      </a:r>
                      <a:endParaRPr sz="13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3.06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20.05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-3.73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113.35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2.34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9.71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-1.488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110.18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2.43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9.79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-2.3</a:t>
                      </a:r>
                      <a:r>
                        <a:rPr lang="en" sz="1300">
                          <a:solidFill>
                            <a:schemeClr val="dk1"/>
                          </a:solidFill>
                        </a:rPr>
                        <a:t>7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0.38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</a:tr>
              <a:tr h="5407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SVM</a:t>
                      </a:r>
                      <a:endParaRPr sz="13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2.58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10.72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-2.10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186.75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2.29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7.90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-2.227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179.78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2.93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16.07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-2.57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9.41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</a:tr>
              <a:tr h="6006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XGBoost</a:t>
                      </a:r>
                      <a:endParaRPr sz="13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&gt; 1h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2.84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15.56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-2.167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2079.5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3.06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22.57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-3.05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0.60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</a:tr>
              <a:tr h="6006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Random Forest</a:t>
                      </a:r>
                      <a:endParaRPr sz="13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&gt; 1h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&gt; 1h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2.80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13.00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-2.12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314.10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</a:tr>
              <a:tr h="6006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Catboost</a:t>
                      </a:r>
                      <a:endParaRPr sz="13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&gt; 1h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None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chemeClr val="dk1"/>
                          </a:solidFill>
                        </a:rPr>
                        <a:t>&gt; 1h</a:t>
                      </a:r>
                      <a:endParaRPr sz="1300"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2.70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1.494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-1.88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1.65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Froth flotation models trained</a:t>
            </a:r>
            <a:endParaRPr>
              <a:latin typeface="Oswald Medium"/>
              <a:ea typeface="Oswald Medium"/>
              <a:cs typeface="Oswald Medium"/>
              <a:sym typeface="Oswald Medium"/>
            </a:endParaRPr>
          </a:p>
        </p:txBody>
      </p:sp>
      <p:graphicFrame>
        <p:nvGraphicFramePr>
          <p:cNvPr id="103" name="Google Shape;103;p20"/>
          <p:cNvGraphicFramePr/>
          <p:nvPr/>
        </p:nvGraphicFramePr>
        <p:xfrm>
          <a:off x="326613" y="12273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{C76F81A4-E986-4E40-B94E-8DC1D8FA0AB2}</a:tableStyleId>
              </a:tblPr>
              <a:tblGrid>
                <a:gridCol w="2619825"/>
                <a:gridCol w="1889425"/>
                <a:gridCol w="1889425"/>
                <a:gridCol w="1889425"/>
              </a:tblGrid>
              <a:tr h="396200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/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FFT and PCA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  <a:tc hMerge="1"/>
              </a:tr>
              <a:tr h="3962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MSE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R2</a:t>
                      </a:r>
                      <a:endParaRPr/>
                    </a:p>
                  </a:txBody>
                  <a:tcPr marT="91425" marB="91425" marR="91425" marL="91425" anchor="ctr"/>
                </a:tc>
              </a:tr>
              <a:tr h="6095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Linear Regression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3.008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19.95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-2.94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SVM</a:t>
                      </a:r>
                      <a:endParaRPr/>
                    </a:p>
                  </a:txBody>
                  <a:tcPr marT="91425" marB="91425" marR="91425" marL="91425" anchor="ctr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2.46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9.87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-2.24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XGBoost</a:t>
                      </a:r>
                      <a:endParaRPr/>
                    </a:p>
                  </a:txBody>
                  <a:tcPr marT="91425" marB="91425" marR="91425" marL="91425" anchor="ctr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292929"/>
                          </a:solidFill>
                        </a:rPr>
                        <a:t>2.98</a:t>
                      </a:r>
                      <a:endParaRPr>
                        <a:solidFill>
                          <a:srgbClr val="29292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292929"/>
                          </a:solidFill>
                        </a:rPr>
                        <a:t>16.58</a:t>
                      </a:r>
                      <a:endParaRPr>
                        <a:solidFill>
                          <a:srgbClr val="29292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292929"/>
                          </a:solidFill>
                        </a:rPr>
                        <a:t>-2.43</a:t>
                      </a:r>
                      <a:endParaRPr>
                        <a:solidFill>
                          <a:srgbClr val="29292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Catboost</a:t>
                      </a:r>
                      <a:endParaRPr/>
                    </a:p>
                  </a:txBody>
                  <a:tcPr marT="91425" marB="91425" marR="91425" marL="91425" anchor="ctr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292929"/>
                          </a:solidFill>
                        </a:rPr>
                        <a:t>2.76</a:t>
                      </a:r>
                      <a:endParaRPr>
                        <a:solidFill>
                          <a:srgbClr val="29292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292929"/>
                          </a:solidFill>
                        </a:rPr>
                        <a:t>12.47</a:t>
                      </a:r>
                      <a:endParaRPr>
                        <a:solidFill>
                          <a:srgbClr val="29292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292929"/>
                          </a:solidFill>
                        </a:rPr>
                        <a:t>-1.73</a:t>
                      </a:r>
                      <a:endParaRPr>
                        <a:solidFill>
                          <a:srgbClr val="29292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Random Forest</a:t>
                      </a:r>
                      <a:endParaRPr/>
                    </a:p>
                  </a:txBody>
                  <a:tcPr marT="91425" marB="91425" marR="91425" marL="91425" anchor="ctr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292929"/>
                          </a:solidFill>
                        </a:rPr>
                        <a:t>2.69</a:t>
                      </a:r>
                      <a:endParaRPr>
                        <a:solidFill>
                          <a:srgbClr val="29292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292929"/>
                          </a:solidFill>
                        </a:rPr>
                        <a:t>11.40</a:t>
                      </a:r>
                      <a:endParaRPr>
                        <a:solidFill>
                          <a:srgbClr val="29292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292929"/>
                          </a:solidFill>
                        </a:rPr>
                        <a:t>-1.53</a:t>
                      </a:r>
                      <a:endParaRPr>
                        <a:solidFill>
                          <a:srgbClr val="292929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1"/>
          <p:cNvSpPr txBox="1"/>
          <p:nvPr>
            <p:ph type="title"/>
          </p:nvPr>
        </p:nvSpPr>
        <p:spPr>
          <a:xfrm>
            <a:off x="311700" y="140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SVM results on test video #1</a:t>
            </a:r>
            <a:endParaRPr>
              <a:latin typeface="Oswald Medium"/>
              <a:ea typeface="Oswald Medium"/>
              <a:cs typeface="Oswald Medium"/>
              <a:sym typeface="Oswald Medium"/>
            </a:endParaRPr>
          </a:p>
        </p:txBody>
      </p:sp>
      <p:pic>
        <p:nvPicPr>
          <p:cNvPr id="109" name="Google Shape;10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782" y="712925"/>
            <a:ext cx="5874430" cy="4430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2"/>
          <p:cNvSpPr txBox="1"/>
          <p:nvPr>
            <p:ph type="title"/>
          </p:nvPr>
        </p:nvSpPr>
        <p:spPr>
          <a:xfrm>
            <a:off x="311700" y="140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SVM results on test video #2</a:t>
            </a:r>
            <a:endParaRPr>
              <a:latin typeface="Oswald Medium"/>
              <a:ea typeface="Oswald Medium"/>
              <a:cs typeface="Oswald Medium"/>
              <a:sym typeface="Oswald Medium"/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782" y="712925"/>
            <a:ext cx="5874430" cy="4430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Froth flotation models evaluation (Average of two test videos)</a:t>
            </a:r>
            <a:endParaRPr>
              <a:latin typeface="Oswald Medium"/>
              <a:ea typeface="Oswald Medium"/>
              <a:cs typeface="Oswald Medium"/>
              <a:sym typeface="Oswald Medium"/>
            </a:endParaRPr>
          </a:p>
        </p:txBody>
      </p:sp>
      <p:graphicFrame>
        <p:nvGraphicFramePr>
          <p:cNvPr id="121" name="Google Shape;121;p23"/>
          <p:cNvGraphicFramePr/>
          <p:nvPr/>
        </p:nvGraphicFramePr>
        <p:xfrm>
          <a:off x="326613" y="12273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{C76F81A4-E986-4E40-B94E-8DC1D8FA0AB2}</a:tableStyleId>
              </a:tblPr>
              <a:tblGrid>
                <a:gridCol w="2133475"/>
                <a:gridCol w="1538650"/>
                <a:gridCol w="1538650"/>
                <a:gridCol w="1538650"/>
                <a:gridCol w="1538650"/>
              </a:tblGrid>
              <a:tr h="396200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Average Prediction % - Actual %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  <a:tc hMerge="1"/>
                <a:tc hMerge="1"/>
              </a:tr>
              <a:tr h="3962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Cu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Pb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Zn</a:t>
                      </a:r>
                      <a:endParaRPr/>
                    </a:p>
                  </a:txBody>
                  <a:tcPr marT="91425" marB="91425" marR="91425" marL="91425" anchor="ctr"/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SVM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0.3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2.82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3.39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2.12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Random Forest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0.2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2.975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4.555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2.02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XGBoost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0.12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3.16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4.065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2.05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Catboost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0.205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3.01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4.595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1.995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Froth flotation: Relavage Pb 1, 3 and 4</a:t>
            </a:r>
            <a:endParaRPr>
              <a:latin typeface="Oswald Medium"/>
              <a:ea typeface="Oswald Medium"/>
              <a:cs typeface="Oswald Medium"/>
              <a:sym typeface="Oswald Medium"/>
            </a:endParaRPr>
          </a:p>
        </p:txBody>
      </p:sp>
      <p:graphicFrame>
        <p:nvGraphicFramePr>
          <p:cNvPr id="127" name="Google Shape;127;p24"/>
          <p:cNvGraphicFramePr/>
          <p:nvPr/>
        </p:nvGraphicFramePr>
        <p:xfrm>
          <a:off x="427950" y="1813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{C76F81A4-E986-4E40-B94E-8DC1D8FA0AB2}</a:tableStyleId>
              </a:tblPr>
              <a:tblGrid>
                <a:gridCol w="2133475"/>
                <a:gridCol w="1538650"/>
                <a:gridCol w="1538650"/>
                <a:gridCol w="1538650"/>
                <a:gridCol w="1538650"/>
              </a:tblGrid>
              <a:tr h="396200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Average Prediction % - Actual % (5 test videos) 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  <a:tc hMerge="1"/>
                <a:tc hMerge="1"/>
              </a:tr>
              <a:tr h="3962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Cu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Pb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Zn</a:t>
                      </a:r>
                      <a:endParaRPr/>
                    </a:p>
                  </a:txBody>
                  <a:tcPr marT="91425" marB="91425" marR="91425" marL="91425" anchor="ctr"/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SVM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0.84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4.15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13.49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1.36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Random Forest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0.83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3.39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10.04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1.51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XGBoost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0.86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3.39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8.94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1.57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Catboost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0.79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3.18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9.51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1.43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D966"/>
                    </a:solidFill>
                  </a:tcPr>
                </a:tc>
              </a:tr>
            </a:tbl>
          </a:graphicData>
        </a:graphic>
      </p:graphicFrame>
      <p:sp>
        <p:nvSpPr>
          <p:cNvPr id="128" name="Google Shape;128;p24"/>
          <p:cNvSpPr txBox="1"/>
          <p:nvPr>
            <p:ph idx="1" type="body"/>
          </p:nvPr>
        </p:nvSpPr>
        <p:spPr>
          <a:xfrm>
            <a:off x="311700" y="847675"/>
            <a:ext cx="8520600" cy="9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1500"/>
              <a:buFont typeface="Georgia"/>
              <a:buChar char="●"/>
            </a:pP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24 videos (1559 images) for training. Approx. 60 images per video.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-3238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1500"/>
              <a:buFont typeface="Georgia"/>
              <a:buChar char="●"/>
            </a:pPr>
            <a:r>
              <a:rPr lang="en" sz="1500">
                <a:solidFill>
                  <a:srgbClr val="292929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5 videos for testing (Average prediction of all images of the video compared with real labels).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5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>
                <a:latin typeface="Oswald Medium"/>
                <a:ea typeface="Oswald Medium"/>
                <a:cs typeface="Oswald Medium"/>
                <a:sym typeface="Oswald Medium"/>
              </a:rPr>
              <a:t>Froth flotation: Relavage Pb 1, 3 and 4</a:t>
            </a:r>
            <a:endParaRPr>
              <a:latin typeface="Oswald Medium"/>
              <a:ea typeface="Oswald Medium"/>
              <a:cs typeface="Oswald Medium"/>
              <a:sym typeface="Oswald Medium"/>
            </a:endParaRPr>
          </a:p>
        </p:txBody>
      </p:sp>
      <p:sp>
        <p:nvSpPr>
          <p:cNvPr id="134" name="Google Shape;134;p25"/>
          <p:cNvSpPr txBox="1"/>
          <p:nvPr>
            <p:ph idx="1" type="body"/>
          </p:nvPr>
        </p:nvSpPr>
        <p:spPr>
          <a:xfrm>
            <a:off x="311700" y="847675"/>
            <a:ext cx="8520600" cy="9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1500"/>
              <a:buFont typeface="Georgia"/>
              <a:buChar char="●"/>
            </a:pPr>
            <a:r>
              <a:rPr lang="en" sz="1500">
                <a:solidFill>
                  <a:srgbClr val="292929"/>
                </a:solidFill>
                <a:highlight>
                  <a:schemeClr val="lt1"/>
                </a:highlight>
                <a:latin typeface="Georgia"/>
                <a:ea typeface="Georgia"/>
                <a:cs typeface="Georgia"/>
                <a:sym typeface="Georgia"/>
              </a:rPr>
              <a:t>A random offset (0 &lt; offset &lt; r) was added to the labels of images of the same video.</a:t>
            </a:r>
            <a:endParaRPr sz="1500">
              <a:solidFill>
                <a:srgbClr val="292929"/>
              </a:solidFill>
              <a:highlight>
                <a:schemeClr val="lt1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-3238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1500"/>
              <a:buFont typeface="Georgia"/>
              <a:buChar char="●"/>
            </a:pPr>
            <a:r>
              <a:rPr lang="en" sz="1500">
                <a:solidFill>
                  <a:srgbClr val="292929"/>
                </a:solidFill>
                <a:highlight>
                  <a:schemeClr val="lt1"/>
                </a:highlight>
                <a:latin typeface="Georgia"/>
                <a:ea typeface="Georgia"/>
                <a:cs typeface="Georgia"/>
                <a:sym typeface="Georgia"/>
              </a:rPr>
              <a:t>Cu: r = 1.8 | Fe: r = 1.6 | Pb: r = 0.5 | Zn: r = 1.6</a:t>
            </a:r>
            <a:endParaRPr sz="1500">
              <a:solidFill>
                <a:srgbClr val="292929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427950" y="1813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{C76F81A4-E986-4E40-B94E-8DC1D8FA0AB2}</a:tableStyleId>
              </a:tblPr>
              <a:tblGrid>
                <a:gridCol w="2133475"/>
                <a:gridCol w="1538650"/>
                <a:gridCol w="1538650"/>
                <a:gridCol w="1538650"/>
                <a:gridCol w="1538650"/>
              </a:tblGrid>
              <a:tr h="396200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Average Prediction % - Actual % (5 test videos) </a:t>
                      </a:r>
                      <a:endParaRPr/>
                    </a:p>
                  </a:txBody>
                  <a:tcPr marT="91425" marB="91425" marR="91425" marL="91425" anchor="ctr"/>
                </a:tc>
                <a:tc hMerge="1"/>
                <a:tc hMerge="1"/>
                <a:tc hMerge="1"/>
              </a:tr>
              <a:tr h="3962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Cu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Fe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Pb</a:t>
                      </a:r>
                      <a:endParaRPr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Zn</a:t>
                      </a:r>
                      <a:endParaRPr/>
                    </a:p>
                  </a:txBody>
                  <a:tcPr marT="91425" marB="91425" marR="91425" marL="91425" anchor="ctr"/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SVM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0.77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4.08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13.45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1.21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Random Forest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0.72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3.34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9.98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1.31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/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XGBoost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0.71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3.26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9.39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1.30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D966"/>
                    </a:solidFill>
                  </a:tcPr>
                </a:tc>
              </a:tr>
              <a:tr h="548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Catboost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0.79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3.14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9.69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1.21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0">
                <a:latin typeface="Oswald SemiBold"/>
                <a:ea typeface="Oswald SemiBold"/>
                <a:cs typeface="Oswald SemiBold"/>
                <a:sym typeface="Oswald SemiBold"/>
              </a:rPr>
              <a:t>Thank You</a:t>
            </a:r>
            <a:endParaRPr sz="5600">
              <a:latin typeface="Oswald SemiBold"/>
              <a:ea typeface="Oswald SemiBold"/>
              <a:cs typeface="Oswald SemiBold"/>
              <a:sym typeface="Oswald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