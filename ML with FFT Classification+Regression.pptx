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Oswald Medium"/>
      <p:regular r:id="rId11"/>
      <p:bold r:id="rId12"/>
    </p:embeddedFont>
    <p:embeddedFont>
      <p:font typeface="Oswald SemiBold"/>
      <p:regular r:id="rId13"/>
      <p:bold r:id="rId14"/>
    </p:embeddedFont>
    <p:embeddedFont>
      <p:font typeface="Fira Sans Extra Condensed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CE752F-71C2-4301-B5FB-16D16A3365E5}">
  <a:tblStyle styleId="{9BCE752F-71C2-4301-B5FB-16D16A3365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swaldMedium-regular.fntdata"/><Relationship Id="rId10" Type="http://schemas.openxmlformats.org/officeDocument/2006/relationships/slide" Target="slides/slide4.xml"/><Relationship Id="rId13" Type="http://schemas.openxmlformats.org/officeDocument/2006/relationships/font" Target="fonts/OswaldSemiBold-regular.fntdata"/><Relationship Id="rId12" Type="http://schemas.openxmlformats.org/officeDocument/2006/relationships/font" Target="fonts/Oswald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FiraSansExtraCondensed-regular.fntdata"/><Relationship Id="rId14" Type="http://schemas.openxmlformats.org/officeDocument/2006/relationships/font" Target="fonts/OswaldSemiBold-bold.fntdata"/><Relationship Id="rId17" Type="http://schemas.openxmlformats.org/officeDocument/2006/relationships/font" Target="fonts/FiraSansExtraCondensed-italic.fntdata"/><Relationship Id="rId16" Type="http://schemas.openxmlformats.org/officeDocument/2006/relationships/font" Target="fonts/FiraSansExtraCondense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FiraSansExtraCondense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83ff9493f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83ff9493f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8b20421e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8b20421e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8b20421ee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8b20421ee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latin typeface="Oswald SemiBold"/>
                <a:ea typeface="Oswald SemiBold"/>
                <a:cs typeface="Oswald SemiBold"/>
                <a:sym typeface="Oswald SemiBold"/>
              </a:rPr>
              <a:t>ML with FFT</a:t>
            </a:r>
            <a:endParaRPr sz="5600"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Presented by </a:t>
            </a:r>
            <a:r>
              <a:rPr lang="en" sz="19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Youssef CHAFIQUI</a:t>
            </a:r>
            <a:endParaRPr sz="19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 Medium"/>
                <a:ea typeface="Oswald Medium"/>
                <a:cs typeface="Oswald Medium"/>
                <a:sym typeface="Oswald Medium"/>
              </a:rPr>
              <a:t>Approach</a:t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228675"/>
            <a:ext cx="85206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The idea is to extract features from images using FFT and to use these features for ML prediction.</a:t>
            </a:r>
            <a:endParaRPr sz="1500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To evaluate the </a:t>
            </a: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effectiveness</a:t>
            </a: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of the proposed </a:t>
            </a: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approach, I have trained a list of ML models with and without FTT, and then compared the results.</a:t>
            </a:r>
            <a:endParaRPr sz="1500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 Medium"/>
                <a:ea typeface="Oswald Medium"/>
                <a:cs typeface="Oswald Medium"/>
                <a:sym typeface="Oswald Medium"/>
              </a:rPr>
              <a:t>Classification: Cats vs. Dogs</a:t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43485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{9BCE752F-71C2-4301-B5FB-16D16A3365E5}</a:tableStyleId>
              </a:tblPr>
              <a:tblGrid>
                <a:gridCol w="1634925"/>
                <a:gridCol w="1634925"/>
                <a:gridCol w="1634925"/>
                <a:gridCol w="1634925"/>
                <a:gridCol w="1634925"/>
              </a:tblGrid>
              <a:tr h="3962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Without </a:t>
                      </a:r>
                      <a:r>
                        <a:rPr lang="en"/>
                        <a:t>FFT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With FFT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 score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 score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Logistic Regression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0.38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0.39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0.63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0.65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SVM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0.57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0.59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0.66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0.70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Random Forest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0.47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0.65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0.68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XGBoost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0.47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0.48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0.67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0.71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 Medium"/>
                <a:ea typeface="Oswald Medium"/>
                <a:cs typeface="Oswald Medium"/>
                <a:sym typeface="Oswald Medium"/>
              </a:rPr>
              <a:t>Regression: Age prediction from image</a:t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graphicFrame>
        <p:nvGraphicFramePr>
          <p:cNvPr id="73" name="Google Shape;73;p16"/>
          <p:cNvGraphicFramePr/>
          <p:nvPr/>
        </p:nvGraphicFramePr>
        <p:xfrm>
          <a:off x="43485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{9BCE752F-71C2-4301-B5FB-16D16A3365E5}</a:tableStyleId>
              </a:tblPr>
              <a:tblGrid>
                <a:gridCol w="1167825"/>
                <a:gridCol w="1167825"/>
                <a:gridCol w="1167825"/>
                <a:gridCol w="1167825"/>
                <a:gridCol w="1167825"/>
                <a:gridCol w="1167825"/>
                <a:gridCol w="1167825"/>
              </a:tblGrid>
              <a:tr h="3962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Without FFT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With FFT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  <a:tc hMerge="1"/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MSE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MSE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R2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96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Linear </a:t>
                      </a:r>
                      <a:r>
                        <a:rPr lang="en"/>
                        <a:t>Regression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22.57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863.72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-0.004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23.59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803.02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0.06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SVM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22.89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842.02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0.02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23.52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857.02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0.0028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XGBoost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17.77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518.41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0.39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25.16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988.37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-0.15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